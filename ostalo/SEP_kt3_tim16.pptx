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_rels/slide22.xml.rels" ContentType="application/vnd.openxmlformats-package.relationships+xml"/>
  <Override PartName="/ppt/media/image9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0.png" ContentType="image/png"/>
  <Override PartName="/ppt/media/image1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51435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20120" cy="6073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311760" y="1229760"/>
            <a:ext cx="8520120" cy="33386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20120" cy="6073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311760" y="1229760"/>
            <a:ext cx="8520120" cy="333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20120" cy="6073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11760" y="1229760"/>
            <a:ext cx="4157640" cy="333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77840" y="1229760"/>
            <a:ext cx="4157640" cy="333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20120" cy="6073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311760" y="410040"/>
            <a:ext cx="8520120" cy="28166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20120" cy="6073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11760" y="1229760"/>
            <a:ext cx="415764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11760" y="2973600"/>
            <a:ext cx="415764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677840" y="1229760"/>
            <a:ext cx="4157640" cy="333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20120" cy="6073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311760" y="1229760"/>
            <a:ext cx="4157640" cy="333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7840" y="1229760"/>
            <a:ext cx="415764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677840" y="2973600"/>
            <a:ext cx="415764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20120" cy="6073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311760" y="1229760"/>
            <a:ext cx="415764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7840" y="1229760"/>
            <a:ext cx="415764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311760" y="2973600"/>
            <a:ext cx="852012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20120" cy="6073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311760" y="1229760"/>
            <a:ext cx="852012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311760" y="2973600"/>
            <a:ext cx="852012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20120" cy="6073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311760" y="1229760"/>
            <a:ext cx="415764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77840" y="1229760"/>
            <a:ext cx="415764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77840" y="2973600"/>
            <a:ext cx="415764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311760" y="2973600"/>
            <a:ext cx="415764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20120" cy="6073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311760" y="1229760"/>
            <a:ext cx="274320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3192480" y="1229760"/>
            <a:ext cx="274320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073200" y="1229760"/>
            <a:ext cx="274320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073200" y="2973600"/>
            <a:ext cx="274320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body"/>
          </p:nvPr>
        </p:nvSpPr>
        <p:spPr>
          <a:xfrm>
            <a:off x="3192480" y="2973600"/>
            <a:ext cx="274320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body"/>
          </p:nvPr>
        </p:nvSpPr>
        <p:spPr>
          <a:xfrm>
            <a:off x="311760" y="2973600"/>
            <a:ext cx="274320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20120" cy="6073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311760" y="1229760"/>
            <a:ext cx="8520120" cy="33386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20120" cy="6073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11760" y="1229760"/>
            <a:ext cx="8520120" cy="333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20120" cy="6073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311760" y="1229760"/>
            <a:ext cx="4157640" cy="333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7840" y="1229760"/>
            <a:ext cx="4157640" cy="333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20120" cy="6073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ubTitle"/>
          </p:nvPr>
        </p:nvSpPr>
        <p:spPr>
          <a:xfrm>
            <a:off x="311760" y="410040"/>
            <a:ext cx="8520120" cy="28166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20120" cy="6073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311760" y="1229760"/>
            <a:ext cx="415764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311760" y="2973600"/>
            <a:ext cx="415764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677840" y="1229760"/>
            <a:ext cx="4157640" cy="333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20120" cy="6073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311760" y="1229760"/>
            <a:ext cx="4157640" cy="33386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677840" y="1229760"/>
            <a:ext cx="415764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4677840" y="2973600"/>
            <a:ext cx="415764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20120" cy="6073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311760" y="1229760"/>
            <a:ext cx="415764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677840" y="1229760"/>
            <a:ext cx="415764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311760" y="2973600"/>
            <a:ext cx="852012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20120" cy="6073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311760" y="1229760"/>
            <a:ext cx="852012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311760" y="2973600"/>
            <a:ext cx="852012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20120" cy="6073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311760" y="1229760"/>
            <a:ext cx="415764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677840" y="1229760"/>
            <a:ext cx="415764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4677840" y="2973600"/>
            <a:ext cx="415764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311760" y="2973600"/>
            <a:ext cx="415764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20120" cy="6073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311760" y="1229760"/>
            <a:ext cx="274320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3192480" y="1229760"/>
            <a:ext cx="274320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body"/>
          </p:nvPr>
        </p:nvSpPr>
        <p:spPr>
          <a:xfrm>
            <a:off x="6073200" y="1229760"/>
            <a:ext cx="274320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body"/>
          </p:nvPr>
        </p:nvSpPr>
        <p:spPr>
          <a:xfrm>
            <a:off x="6073200" y="2973600"/>
            <a:ext cx="274320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 type="body"/>
          </p:nvPr>
        </p:nvSpPr>
        <p:spPr>
          <a:xfrm>
            <a:off x="3192480" y="2973600"/>
            <a:ext cx="274320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7"/>
          <p:cNvSpPr>
            <a:spLocks noGrp="1"/>
          </p:cNvSpPr>
          <p:nvPr>
            <p:ph type="body"/>
          </p:nvPr>
        </p:nvSpPr>
        <p:spPr>
          <a:xfrm>
            <a:off x="311760" y="2973600"/>
            <a:ext cx="2743200" cy="1592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a39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8128800" y="0"/>
            <a:ext cx="1014840" cy="1014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CustomShape 2"/>
          <p:cNvSpPr/>
          <p:nvPr/>
        </p:nvSpPr>
        <p:spPr>
          <a:xfrm flipH="1">
            <a:off x="7112880" y="0"/>
            <a:ext cx="1014840" cy="101484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CustomShape 3"/>
          <p:cNvSpPr/>
          <p:nvPr/>
        </p:nvSpPr>
        <p:spPr>
          <a:xfrm flipH="1" rot="10800000">
            <a:off x="8128080" y="1015200"/>
            <a:ext cx="1014840" cy="101484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CustomShape 4"/>
          <p:cNvSpPr/>
          <p:nvPr/>
        </p:nvSpPr>
        <p:spPr>
          <a:xfrm rot="10800000">
            <a:off x="7113600" y="1015200"/>
            <a:ext cx="1014840" cy="101484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" name="CustomShape 5"/>
          <p:cNvSpPr/>
          <p:nvPr/>
        </p:nvSpPr>
        <p:spPr>
          <a:xfrm rot="10800000">
            <a:off x="9144000" y="2030400"/>
            <a:ext cx="1014840" cy="101484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" name="PlaceHolder 6"/>
          <p:cNvSpPr>
            <a:spLocks noGrp="1"/>
          </p:cNvSpPr>
          <p:nvPr>
            <p:ph type="title"/>
          </p:nvPr>
        </p:nvSpPr>
        <p:spPr>
          <a:xfrm>
            <a:off x="597960" y="1775160"/>
            <a:ext cx="8221680" cy="838440"/>
          </a:xfrm>
          <a:prstGeom prst="rect">
            <a:avLst/>
          </a:prstGeom>
        </p:spPr>
        <p:txBody>
          <a:bodyPr tIns="91440" bIns="91440" anchor="b"/>
          <a:p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sldNum"/>
          </p:nvPr>
        </p:nvSpPr>
        <p:spPr>
          <a:xfrm>
            <a:off x="8460360" y="4651200"/>
            <a:ext cx="548280" cy="393120"/>
          </a:xfrm>
          <a:prstGeom prst="rect">
            <a:avLst/>
          </a:prstGeom>
        </p:spPr>
        <p:txBody>
          <a:bodyPr tIns="91440" bIns="91440" anchor="ctr"/>
          <a:p>
            <a:pPr algn="r">
              <a:lnSpc>
                <a:spcPct val="100000"/>
              </a:lnSpc>
            </a:pPr>
            <a:fld id="{DEA4D782-B644-46E2-8CCF-0FEA9B4E32BD}" type="slidenum">
              <a:rPr b="0" lang="en-US" sz="1000" spc="-1" strike="noStrike">
                <a:solidFill>
                  <a:srgbClr val="ffffff"/>
                </a:solidFill>
                <a:latin typeface="Roboto"/>
                <a:ea typeface="Robo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7" name="PlaceHolder 8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8154720" y="3903840"/>
            <a:ext cx="988920" cy="987480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CustomShape 2"/>
          <p:cNvSpPr/>
          <p:nvPr/>
        </p:nvSpPr>
        <p:spPr>
          <a:xfrm flipH="1">
            <a:off x="6180480" y="3903840"/>
            <a:ext cx="988920" cy="987480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CustomShape 3"/>
          <p:cNvSpPr/>
          <p:nvPr/>
        </p:nvSpPr>
        <p:spPr>
          <a:xfrm>
            <a:off x="7170120" y="3903840"/>
            <a:ext cx="988920" cy="9874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CustomShape 4"/>
          <p:cNvSpPr/>
          <p:nvPr/>
        </p:nvSpPr>
        <p:spPr>
          <a:xfrm rot="10800000">
            <a:off x="9144000" y="4891680"/>
            <a:ext cx="988920" cy="98748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CustomShape 5"/>
          <p:cNvSpPr/>
          <p:nvPr/>
        </p:nvSpPr>
        <p:spPr>
          <a:xfrm>
            <a:off x="0" y="4891680"/>
            <a:ext cx="9143640" cy="25164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PlaceHolder 6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20120" cy="607320"/>
          </a:xfrm>
          <a:prstGeom prst="rect">
            <a:avLst/>
          </a:prstGeom>
        </p:spPr>
        <p:txBody>
          <a:bodyPr tIns="91440" bIns="91440"/>
          <a:p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body"/>
          </p:nvPr>
        </p:nvSpPr>
        <p:spPr>
          <a:xfrm>
            <a:off x="311760" y="1229760"/>
            <a:ext cx="8520120" cy="3338640"/>
          </a:xfrm>
          <a:prstGeom prst="rect">
            <a:avLst/>
          </a:prstGeom>
        </p:spPr>
        <p:txBody>
          <a:bodyPr tIns="91440" bIns="91440"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sldNum"/>
          </p:nvPr>
        </p:nvSpPr>
        <p:spPr>
          <a:xfrm>
            <a:off x="8460360" y="4651200"/>
            <a:ext cx="548280" cy="393120"/>
          </a:xfrm>
          <a:prstGeom prst="rect">
            <a:avLst/>
          </a:prstGeom>
        </p:spPr>
        <p:txBody>
          <a:bodyPr tIns="91440" bIns="91440" anchor="ctr"/>
          <a:p>
            <a:pPr algn="r">
              <a:lnSpc>
                <a:spcPct val="100000"/>
              </a:lnSpc>
            </a:pPr>
            <a:fld id="{79369ACF-6EB2-4612-8982-A4B6698DBB8E}" type="slidenum">
              <a:rPr b="0" lang="en-US" sz="1000" spc="-1" strike="noStrike">
                <a:solidFill>
                  <a:srgbClr val="ffffff"/>
                </a:solidFill>
                <a:latin typeface="Roboto"/>
                <a:ea typeface="Roboto"/>
              </a:rPr>
              <a:t>1</a:t>
            </a:fld>
            <a:endParaRPr b="0" lang="en-US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4c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585360" y="1557000"/>
            <a:ext cx="8221680" cy="838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Roboto"/>
                <a:ea typeface="Roboto"/>
              </a:rPr>
              <a:t>SEP - treća kontrolna tačka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521280" y="3100680"/>
            <a:ext cx="8221680" cy="43272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algn="r">
              <a:lnSpc>
                <a:spcPct val="100000"/>
              </a:lnSpc>
            </a:pPr>
            <a:r>
              <a:rPr b="0" i="1" lang="en-US" sz="2200" spc="-1" strike="noStrike">
                <a:solidFill>
                  <a:srgbClr val="ffffff"/>
                </a:solidFill>
                <a:latin typeface="Roboto"/>
                <a:ea typeface="Roboto"/>
              </a:rPr>
              <a:t>Tim 16:</a:t>
            </a:r>
            <a:endParaRPr b="0" lang="en-US" sz="2200" spc="-1" strike="noStrike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0" i="1" lang="en-US" sz="2200" spc="-1" strike="noStrike">
                <a:solidFill>
                  <a:srgbClr val="ffffff"/>
                </a:solidFill>
                <a:latin typeface="Roboto"/>
                <a:ea typeface="Roboto"/>
              </a:rPr>
              <a:t>	</a:t>
            </a:r>
            <a:r>
              <a:rPr b="0" i="1" lang="en-US" sz="2200" spc="-1" strike="noStrike">
                <a:solidFill>
                  <a:srgbClr val="ffffff"/>
                </a:solidFill>
                <a:latin typeface="Roboto"/>
                <a:ea typeface="Roboto"/>
              </a:rPr>
              <a:t>Bojana Samardžić E2 14/2018</a:t>
            </a:r>
            <a:endParaRPr b="0" lang="en-US" sz="2200" spc="-1" strike="noStrike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0" i="1" lang="en-US" sz="2200" spc="-1" strike="noStrike">
                <a:solidFill>
                  <a:srgbClr val="ffffff"/>
                </a:solidFill>
                <a:latin typeface="Roboto"/>
                <a:ea typeface="Roboto"/>
              </a:rPr>
              <a:t>	</a:t>
            </a:r>
            <a:r>
              <a:rPr b="0" i="1" lang="en-US" sz="2200" spc="-1" strike="noStrike">
                <a:solidFill>
                  <a:srgbClr val="ffffff"/>
                </a:solidFill>
                <a:latin typeface="Roboto"/>
                <a:ea typeface="Roboto"/>
              </a:rPr>
              <a:t>Tamara Perlinac E2 43/2018</a:t>
            </a:r>
            <a:endParaRPr b="0" lang="en-US" sz="2200" spc="-1" strike="noStrike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0" i="1" lang="en-US" sz="2200" spc="-1" strike="noStrike">
                <a:solidFill>
                  <a:srgbClr val="ffffff"/>
                </a:solidFill>
                <a:latin typeface="Roboto"/>
                <a:ea typeface="Roboto"/>
              </a:rPr>
              <a:t>	</a:t>
            </a:r>
            <a:r>
              <a:rPr b="0" i="1" lang="en-US" sz="2200" spc="-1" strike="noStrike">
                <a:solidFill>
                  <a:srgbClr val="ffffff"/>
                </a:solidFill>
                <a:latin typeface="Roboto"/>
                <a:ea typeface="Roboto"/>
              </a:rPr>
              <a:t>Marko Vučković E2 77/2018</a:t>
            </a:r>
            <a:endParaRPr b="0" lang="en-US" sz="22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4c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Shape 1"/>
          <p:cNvSpPr txBox="1"/>
          <p:nvPr/>
        </p:nvSpPr>
        <p:spPr>
          <a:xfrm>
            <a:off x="311760" y="410040"/>
            <a:ext cx="8520120" cy="60732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>
              <a:lnSpc>
                <a:spcPct val="100000"/>
              </a:lnSpc>
            </a:pPr>
            <a:r>
              <a:rPr b="1" i="1" lang="en-US" sz="3000" spc="-1" strike="noStrike">
                <a:solidFill>
                  <a:srgbClr val="2a3990"/>
                </a:solidFill>
                <a:latin typeface="Roboto"/>
                <a:ea typeface="Roboto"/>
              </a:rPr>
              <a:t>Prvi sprint ...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Shape 2"/>
          <p:cNvSpPr txBox="1"/>
          <p:nvPr/>
        </p:nvSpPr>
        <p:spPr>
          <a:xfrm>
            <a:off x="311760" y="1229760"/>
            <a:ext cx="8520120" cy="333864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marL="457200" indent="-355320" algn="just">
              <a:lnSpc>
                <a:spcPct val="100000"/>
              </a:lnSpc>
              <a:buClr>
                <a:srgbClr val="434343"/>
              </a:buClr>
              <a:buFont typeface="Roboto"/>
              <a:buChar char="●"/>
            </a:pPr>
            <a:r>
              <a:rPr b="0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diskutovati o inicijalnom modelu  podataka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55320" algn="just">
              <a:lnSpc>
                <a:spcPct val="100000"/>
              </a:lnSpc>
              <a:buClr>
                <a:srgbClr val="434343"/>
              </a:buClr>
              <a:buFont typeface="Roboto"/>
              <a:buChar char="●"/>
            </a:pPr>
            <a:r>
              <a:rPr b="0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osmisliti na koji način će biti ostvarena komunikacija između aplikacija, kako će izgledati tokovi razmene podataka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55320" algn="just">
              <a:lnSpc>
                <a:spcPct val="100000"/>
              </a:lnSpc>
              <a:buClr>
                <a:srgbClr val="434343"/>
              </a:buClr>
              <a:buFont typeface="Roboto"/>
              <a:buChar char="●"/>
            </a:pPr>
            <a:r>
              <a:rPr b="0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razmisliti o tome šta se tačno podrazumeva pod funkcionalnošću plaćanja - koji entiteti su ključni u tom procesu, koju ulogu imaju u sistemu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55320" algn="just">
              <a:lnSpc>
                <a:spcPct val="100000"/>
              </a:lnSpc>
              <a:buClr>
                <a:srgbClr val="434343"/>
              </a:buClr>
              <a:buFont typeface="Roboto"/>
              <a:buChar char="●"/>
            </a:pPr>
            <a:r>
              <a:rPr b="0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definisati relevantne podatke kojima je neophodno proširiti aplikaciju naučne centrale kako bi funkcionalnost plaćanja uopšte bilo moguće realizovati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4c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311760" y="410040"/>
            <a:ext cx="8520120" cy="60732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>
              <a:lnSpc>
                <a:spcPct val="100000"/>
              </a:lnSpc>
            </a:pPr>
            <a:r>
              <a:rPr b="1" i="1" lang="en-US" sz="3000" spc="-1" strike="noStrike">
                <a:solidFill>
                  <a:srgbClr val="2a3990"/>
                </a:solidFill>
                <a:latin typeface="Roboto"/>
                <a:ea typeface="Roboto"/>
              </a:rPr>
              <a:t>… </a:t>
            </a:r>
            <a:r>
              <a:rPr b="1" i="1" lang="en-US" sz="3000" spc="-1" strike="noStrike">
                <a:solidFill>
                  <a:srgbClr val="2a3990"/>
                </a:solidFill>
                <a:latin typeface="Roboto"/>
                <a:ea typeface="Roboto"/>
              </a:rPr>
              <a:t>prvi sprint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Shape 2"/>
          <p:cNvSpPr txBox="1"/>
          <p:nvPr/>
        </p:nvSpPr>
        <p:spPr>
          <a:xfrm>
            <a:off x="311760" y="1229760"/>
            <a:ext cx="8520120" cy="333864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marL="457200" indent="-355320" algn="just">
              <a:lnSpc>
                <a:spcPct val="100000"/>
              </a:lnSpc>
              <a:buClr>
                <a:srgbClr val="434343"/>
              </a:buClr>
              <a:buFont typeface="Roboto"/>
              <a:buChar char="●"/>
            </a:pPr>
            <a:r>
              <a:rPr b="0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podeliti posao između članova tima: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8840" algn="just">
              <a:lnSpc>
                <a:spcPct val="100000"/>
              </a:lnSpc>
              <a:buClr>
                <a:srgbClr val="434343"/>
              </a:buClr>
              <a:buFont typeface="Roboto"/>
              <a:buChar char="○"/>
            </a:pPr>
            <a:r>
              <a:rPr b="0" i="1" lang="en-US" sz="1900" spc="-1" strike="noStrike" u="sng">
                <a:solidFill>
                  <a:srgbClr val="434343"/>
                </a:solidFill>
                <a:uFillTx/>
                <a:latin typeface="Roboto"/>
                <a:ea typeface="Roboto"/>
              </a:rPr>
              <a:t>član 1:</a:t>
            </a:r>
            <a:r>
              <a:rPr b="0" lang="en-US" sz="1900" spc="-1" strike="noStrike">
                <a:solidFill>
                  <a:srgbClr val="434343"/>
                </a:solidFill>
                <a:latin typeface="Roboto"/>
                <a:ea typeface="Roboto"/>
              </a:rPr>
              <a:t> izučiti proces plaćanja karticom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8840" algn="just">
              <a:lnSpc>
                <a:spcPct val="100000"/>
              </a:lnSpc>
              <a:buClr>
                <a:srgbClr val="434343"/>
              </a:buClr>
              <a:buFont typeface="Roboto"/>
              <a:buChar char="○"/>
            </a:pPr>
            <a:r>
              <a:rPr b="0" i="1" lang="en-US" sz="1900" spc="-1" strike="noStrike" u="sng">
                <a:solidFill>
                  <a:srgbClr val="434343"/>
                </a:solidFill>
                <a:uFillTx/>
                <a:latin typeface="Roboto"/>
                <a:ea typeface="Roboto"/>
              </a:rPr>
              <a:t>član 2:</a:t>
            </a:r>
            <a:r>
              <a:rPr b="0" lang="en-US" sz="1900" spc="-1" strike="noStrike">
                <a:solidFill>
                  <a:srgbClr val="434343"/>
                </a:solidFill>
                <a:latin typeface="Roboto"/>
                <a:ea typeface="Roboto"/>
              </a:rPr>
              <a:t> izučiti proces plaćanja PayPal-om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8840" algn="just">
              <a:lnSpc>
                <a:spcPct val="100000"/>
              </a:lnSpc>
              <a:buClr>
                <a:srgbClr val="434343"/>
              </a:buClr>
              <a:buFont typeface="Roboto"/>
              <a:buChar char="○"/>
            </a:pPr>
            <a:r>
              <a:rPr b="0" i="1" lang="en-US" sz="1900" spc="-1" strike="noStrike" u="sng">
                <a:solidFill>
                  <a:srgbClr val="434343"/>
                </a:solidFill>
                <a:uFillTx/>
                <a:latin typeface="Roboto"/>
                <a:ea typeface="Roboto"/>
              </a:rPr>
              <a:t>član 3:</a:t>
            </a:r>
            <a:r>
              <a:rPr b="0" lang="en-US" sz="1900" spc="-1" strike="noStrike">
                <a:solidFill>
                  <a:srgbClr val="434343"/>
                </a:solidFill>
                <a:latin typeface="Roboto"/>
                <a:ea typeface="Roboto"/>
              </a:rPr>
              <a:t> izučiti proces plaćanja Bitcoin kriptovalutom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8840" algn="just">
              <a:lnSpc>
                <a:spcPct val="100000"/>
              </a:lnSpc>
              <a:buClr>
                <a:srgbClr val="434343"/>
              </a:buClr>
              <a:buFont typeface="Roboto"/>
              <a:buChar char="○"/>
            </a:pPr>
            <a:r>
              <a:rPr b="0" i="1" lang="en-US" sz="1900" spc="-1" strike="noStrike" u="sng">
                <a:solidFill>
                  <a:srgbClr val="434343"/>
                </a:solidFill>
                <a:uFillTx/>
                <a:latin typeface="Roboto"/>
                <a:ea typeface="Roboto"/>
              </a:rPr>
              <a:t>svi:</a:t>
            </a:r>
            <a:r>
              <a:rPr b="0" lang="en-US" sz="1900" spc="-1" strike="noStrike">
                <a:solidFill>
                  <a:srgbClr val="434343"/>
                </a:solidFill>
                <a:latin typeface="Roboto"/>
                <a:ea typeface="Roboto"/>
              </a:rPr>
              <a:t> razmisliti o tome koje su komponente sistema najosetljivije tj. najpodložnije napadima, pa u skladu sa tim definisati šta je sve od bezbednosnih mehanizama potrebno implementirati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4c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311760" y="410040"/>
            <a:ext cx="8520120" cy="60732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>
              <a:lnSpc>
                <a:spcPct val="100000"/>
              </a:lnSpc>
            </a:pPr>
            <a:r>
              <a:rPr b="1" i="1" lang="en-US" sz="3000" spc="-1" strike="noStrike">
                <a:solidFill>
                  <a:srgbClr val="2a3990"/>
                </a:solidFill>
                <a:latin typeface="Roboto"/>
                <a:ea typeface="Roboto"/>
              </a:rPr>
              <a:t>Drugi sprint ...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311760" y="1229760"/>
            <a:ext cx="8520120" cy="333864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marL="457200" indent="-348840" algn="just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i="1" lang="en-US" sz="1900" spc="-1" strike="noStrike" u="sng">
                <a:solidFill>
                  <a:srgbClr val="434343"/>
                </a:solidFill>
                <a:uFillTx/>
                <a:latin typeface="Roboto"/>
                <a:ea typeface="Roboto"/>
              </a:rPr>
              <a:t>svi:</a:t>
            </a:r>
            <a:r>
              <a:rPr b="0" lang="en-US" sz="1900" spc="-1" strike="noStrike">
                <a:solidFill>
                  <a:srgbClr val="434343"/>
                </a:solidFill>
                <a:latin typeface="Roboto"/>
                <a:ea typeface="Roboto"/>
              </a:rPr>
              <a:t> napraviti inicijalni model aplikacije koncentrator plaćanja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457200" indent="-348840" algn="just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-US" sz="1900" spc="-1" strike="noStrike">
                <a:solidFill>
                  <a:srgbClr val="434343"/>
                </a:solidFill>
                <a:latin typeface="Roboto"/>
                <a:ea typeface="Roboto"/>
              </a:rPr>
              <a:t>otpočeti implementaciju funkcionalnosti plaćanja: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8840" algn="just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i="1" lang="en-US" sz="1900" spc="-1" strike="noStrike" u="sng">
                <a:solidFill>
                  <a:srgbClr val="434343"/>
                </a:solidFill>
                <a:uFillTx/>
                <a:latin typeface="Roboto"/>
                <a:ea typeface="Roboto"/>
              </a:rPr>
              <a:t>član 1:</a:t>
            </a:r>
            <a:r>
              <a:rPr b="0" lang="en-US" sz="1900" spc="-1" strike="noStrike">
                <a:solidFill>
                  <a:srgbClr val="434343"/>
                </a:solidFill>
                <a:latin typeface="Roboto"/>
                <a:ea typeface="Roboto"/>
              </a:rPr>
              <a:t> implementirati funkcionalnost plaćanja karticom (slučaj kada su banka kupca i banka prodavca iste). Razmisliti o tome na koji način pokriti i slučaj kada se banka kupca i banka prodavca razlikuju.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8840" algn="just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i="1" lang="en-US" sz="1900" spc="-1" strike="noStrike" u="sng">
                <a:solidFill>
                  <a:srgbClr val="434343"/>
                </a:solidFill>
                <a:uFillTx/>
                <a:latin typeface="Roboto"/>
                <a:ea typeface="Roboto"/>
              </a:rPr>
              <a:t>član 2:</a:t>
            </a:r>
            <a:r>
              <a:rPr b="0" lang="en-US" sz="1900" spc="-1" strike="noStrike">
                <a:solidFill>
                  <a:srgbClr val="434343"/>
                </a:solidFill>
                <a:latin typeface="Roboto"/>
                <a:ea typeface="Roboto"/>
              </a:rPr>
              <a:t> proučiti PayPal API i realizovati plaćanje PayPal-om.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8840" algn="just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i="1" lang="en-US" sz="1900" spc="-1" strike="noStrike" u="sng">
                <a:solidFill>
                  <a:srgbClr val="434343"/>
                </a:solidFill>
                <a:uFillTx/>
                <a:latin typeface="Roboto"/>
                <a:ea typeface="Roboto"/>
              </a:rPr>
              <a:t>član 3:</a:t>
            </a:r>
            <a:r>
              <a:rPr b="0" lang="en-US" sz="1900" spc="-1" strike="noStrike">
                <a:solidFill>
                  <a:srgbClr val="434343"/>
                </a:solidFill>
                <a:latin typeface="Roboto"/>
                <a:ea typeface="Roboto"/>
              </a:rPr>
              <a:t> proučiti Bitcoin API i omogućiti plaćanje Bitcoin kriptovalutom.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4c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Shape 1"/>
          <p:cNvSpPr txBox="1"/>
          <p:nvPr/>
        </p:nvSpPr>
        <p:spPr>
          <a:xfrm>
            <a:off x="311760" y="410040"/>
            <a:ext cx="8520120" cy="60732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algn="just">
              <a:lnSpc>
                <a:spcPct val="100000"/>
              </a:lnSpc>
            </a:pPr>
            <a:r>
              <a:rPr b="1" i="1" lang="en-US" sz="3000" spc="-1" strike="noStrike">
                <a:solidFill>
                  <a:srgbClr val="2a3990"/>
                </a:solidFill>
                <a:latin typeface="Roboto"/>
                <a:ea typeface="Roboto"/>
              </a:rPr>
              <a:t>… </a:t>
            </a:r>
            <a:r>
              <a:rPr b="1" i="1" lang="en-US" sz="3000" spc="-1" strike="noStrike">
                <a:solidFill>
                  <a:srgbClr val="2a3990"/>
                </a:solidFill>
                <a:latin typeface="Roboto"/>
                <a:ea typeface="Roboto"/>
              </a:rPr>
              <a:t>drugi sprint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Shape 2"/>
          <p:cNvSpPr txBox="1"/>
          <p:nvPr/>
        </p:nvSpPr>
        <p:spPr>
          <a:xfrm>
            <a:off x="311760" y="1229760"/>
            <a:ext cx="8520120" cy="333864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marL="457200" indent="-355320" algn="just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i="1" lang="en-US" sz="2000" spc="-1" strike="noStrike" u="sng">
                <a:solidFill>
                  <a:srgbClr val="434343"/>
                </a:solidFill>
                <a:uFillTx/>
                <a:latin typeface="Roboto"/>
                <a:ea typeface="Roboto"/>
              </a:rPr>
              <a:t>svi: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8840" algn="just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lang="en-US" sz="1900" spc="-1" strike="noStrike">
                <a:solidFill>
                  <a:srgbClr val="434343"/>
                </a:solidFill>
                <a:latin typeface="Roboto"/>
                <a:ea typeface="Roboto"/>
              </a:rPr>
              <a:t>svako započinje implementaciju svoje naučne centrale - napraviti model, realizovati CRUD operacije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8840" algn="just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lang="en-US" sz="1900" spc="-1" strike="noStrike">
                <a:solidFill>
                  <a:srgbClr val="434343"/>
                </a:solidFill>
                <a:latin typeface="Roboto"/>
                <a:ea typeface="Roboto"/>
              </a:rPr>
              <a:t>u toku rada, dogovarati se o eventualnim izmenama ranije dogovorenih strategija za implementaciju koncentratora plaćanja (i naučne centrale) - izvršiti korekcije inicijalnih modela ukoliko se za tim javi potreba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4c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Shape 1"/>
          <p:cNvSpPr txBox="1"/>
          <p:nvPr/>
        </p:nvSpPr>
        <p:spPr>
          <a:xfrm>
            <a:off x="311760" y="410040"/>
            <a:ext cx="8520120" cy="60732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algn="just">
              <a:lnSpc>
                <a:spcPct val="100000"/>
              </a:lnSpc>
            </a:pPr>
            <a:r>
              <a:rPr b="1" i="1" lang="en-US" sz="3000" spc="-1" strike="noStrike">
                <a:solidFill>
                  <a:srgbClr val="2a3990"/>
                </a:solidFill>
                <a:latin typeface="Roboto"/>
                <a:ea typeface="Roboto"/>
              </a:rPr>
              <a:t>Treći sprint ...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Shape 2"/>
          <p:cNvSpPr txBox="1"/>
          <p:nvPr/>
        </p:nvSpPr>
        <p:spPr>
          <a:xfrm>
            <a:off x="311760" y="1229760"/>
            <a:ext cx="8520120" cy="333864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marL="457200" indent="-355320" algn="just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za ovu kontrolnu tačku akcenat je stavljen na implementaciju bezbednosnih mehanizama u aplikacijama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55320" algn="just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takođe, svaki od članova tima dobio je i dodatne pojedinačne zadatke koje je trebalo da realizuje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55320" algn="just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ispraviti bug-ove iz prethodnih sprintova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4c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Shape 1"/>
          <p:cNvSpPr txBox="1"/>
          <p:nvPr/>
        </p:nvSpPr>
        <p:spPr>
          <a:xfrm>
            <a:off x="311760" y="410040"/>
            <a:ext cx="8520120" cy="60732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algn="just">
              <a:lnSpc>
                <a:spcPct val="100000"/>
              </a:lnSpc>
            </a:pPr>
            <a:r>
              <a:rPr b="1" i="1" lang="en-US" sz="3000" spc="-1" strike="noStrike">
                <a:solidFill>
                  <a:srgbClr val="2a3990"/>
                </a:solidFill>
                <a:latin typeface="Roboto"/>
                <a:ea typeface="Roboto"/>
              </a:rPr>
              <a:t>… </a:t>
            </a:r>
            <a:r>
              <a:rPr b="1" i="1" lang="en-US" sz="3000" spc="-1" strike="noStrike">
                <a:solidFill>
                  <a:srgbClr val="2a3990"/>
                </a:solidFill>
                <a:latin typeface="Roboto"/>
                <a:ea typeface="Roboto"/>
              </a:rPr>
              <a:t>treći sprint ...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Shape 2"/>
          <p:cNvSpPr txBox="1"/>
          <p:nvPr/>
        </p:nvSpPr>
        <p:spPr>
          <a:xfrm>
            <a:off x="311760" y="1229760"/>
            <a:ext cx="8520120" cy="333864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marL="457200" indent="-355320" algn="just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zadaci: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8840" algn="just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i="1" lang="en-US" sz="1900" spc="-1" strike="noStrike" u="sng">
                <a:solidFill>
                  <a:srgbClr val="434343"/>
                </a:solidFill>
                <a:uFillTx/>
                <a:latin typeface="Roboto"/>
                <a:ea typeface="Roboto"/>
              </a:rPr>
              <a:t>član 1 - plaćanje karticom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42720" algn="just">
              <a:lnSpc>
                <a:spcPct val="100000"/>
              </a:lnSpc>
              <a:buClr>
                <a:srgbClr val="434343"/>
              </a:buClr>
              <a:buFont typeface="Roboto"/>
              <a:buChar char="■"/>
            </a:pPr>
            <a:r>
              <a:rPr b="0" lang="en-US" sz="1800" spc="-1" strike="noStrike">
                <a:solidFill>
                  <a:srgbClr val="434343"/>
                </a:solidFill>
                <a:latin typeface="Roboto"/>
                <a:ea typeface="Roboto"/>
              </a:rPr>
              <a:t>detaljno testirati rad implementirane opcije plaćanja karticom (slučaj kada su banka kupca i banka prodavca iste)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42720" algn="just">
              <a:lnSpc>
                <a:spcPct val="115000"/>
              </a:lnSpc>
              <a:buClr>
                <a:srgbClr val="434343"/>
              </a:buClr>
              <a:buFont typeface="Roboto"/>
              <a:buChar char="■"/>
            </a:pPr>
            <a:r>
              <a:rPr b="0" lang="en-US" sz="1800" spc="-1" strike="noStrike">
                <a:solidFill>
                  <a:srgbClr val="434343"/>
                </a:solidFill>
                <a:latin typeface="Roboto"/>
                <a:ea typeface="Roboto"/>
              </a:rPr>
              <a:t>implementirati mogućnost plaćanja kada su banka kupca i banka prodavca različite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4c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311760" y="410040"/>
            <a:ext cx="8520120" cy="60732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algn="just">
              <a:lnSpc>
                <a:spcPct val="100000"/>
              </a:lnSpc>
            </a:pPr>
            <a:r>
              <a:rPr b="1" i="1" lang="en-US" sz="3000" spc="-1" strike="noStrike">
                <a:solidFill>
                  <a:srgbClr val="2a3990"/>
                </a:solidFill>
                <a:latin typeface="Roboto"/>
                <a:ea typeface="Roboto"/>
              </a:rPr>
              <a:t>… </a:t>
            </a:r>
            <a:r>
              <a:rPr b="1" i="1" lang="en-US" sz="3000" spc="-1" strike="noStrike">
                <a:solidFill>
                  <a:srgbClr val="2a3990"/>
                </a:solidFill>
                <a:latin typeface="Roboto"/>
                <a:ea typeface="Roboto"/>
              </a:rPr>
              <a:t>treći sprint ...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Shape 2"/>
          <p:cNvSpPr txBox="1"/>
          <p:nvPr/>
        </p:nvSpPr>
        <p:spPr>
          <a:xfrm>
            <a:off x="311760" y="1229760"/>
            <a:ext cx="8520120" cy="333864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marL="457200" indent="-355320" algn="just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zadaci: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8840" algn="just">
              <a:lnSpc>
                <a:spcPct val="100000"/>
              </a:lnSpc>
              <a:buClr>
                <a:srgbClr val="434343"/>
              </a:buClr>
              <a:buFont typeface="Roboto"/>
              <a:buChar char="○"/>
            </a:pPr>
            <a:r>
              <a:rPr b="0" i="1" lang="en-US" sz="1900" spc="-1" strike="noStrike" u="sng">
                <a:solidFill>
                  <a:srgbClr val="434343"/>
                </a:solidFill>
                <a:uFillTx/>
                <a:latin typeface="Roboto"/>
                <a:ea typeface="Roboto"/>
              </a:rPr>
              <a:t>član 2 - plaćanje PayPal-om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42720" algn="just">
              <a:lnSpc>
                <a:spcPct val="115000"/>
              </a:lnSpc>
              <a:buClr>
                <a:srgbClr val="434343"/>
              </a:buClr>
              <a:buFont typeface="Roboto"/>
              <a:buChar char="■"/>
            </a:pPr>
            <a:r>
              <a:rPr b="0" lang="en-US" sz="1800" spc="-1" strike="noStrike">
                <a:solidFill>
                  <a:srgbClr val="434343"/>
                </a:solidFill>
                <a:latin typeface="Roboto"/>
                <a:ea typeface="Roboto"/>
              </a:rPr>
              <a:t>detaljno testirati rad implementirane opcije plaćanja preko PayPal-a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42720" algn="just">
              <a:lnSpc>
                <a:spcPct val="115000"/>
              </a:lnSpc>
              <a:buClr>
                <a:srgbClr val="434343"/>
              </a:buClr>
              <a:buFont typeface="Roboto"/>
              <a:buChar char="■"/>
            </a:pPr>
            <a:r>
              <a:rPr b="0" lang="en-US" sz="1800" spc="-1" strike="noStrike">
                <a:solidFill>
                  <a:srgbClr val="434343"/>
                </a:solidFill>
                <a:latin typeface="Roboto"/>
                <a:ea typeface="Roboto"/>
              </a:rPr>
              <a:t>započeti proces razmišljanja o tome kako omogućiti funkciju pretplate u slučajevima gde to ima smisla. Eventualno započeti implementaciju rešenja postavljenog problema.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4c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311760" y="410040"/>
            <a:ext cx="8520120" cy="60732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algn="just">
              <a:lnSpc>
                <a:spcPct val="100000"/>
              </a:lnSpc>
            </a:pPr>
            <a:r>
              <a:rPr b="1" i="1" lang="en-US" sz="3000" spc="-1" strike="noStrike">
                <a:solidFill>
                  <a:srgbClr val="2a3990"/>
                </a:solidFill>
                <a:latin typeface="Roboto"/>
                <a:ea typeface="Roboto"/>
              </a:rPr>
              <a:t>… </a:t>
            </a:r>
            <a:r>
              <a:rPr b="1" i="1" lang="en-US" sz="3000" spc="-1" strike="noStrike">
                <a:solidFill>
                  <a:srgbClr val="2a3990"/>
                </a:solidFill>
                <a:latin typeface="Roboto"/>
                <a:ea typeface="Roboto"/>
              </a:rPr>
              <a:t>treći sprint ...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Shape 2"/>
          <p:cNvSpPr txBox="1"/>
          <p:nvPr/>
        </p:nvSpPr>
        <p:spPr>
          <a:xfrm>
            <a:off x="311760" y="1229760"/>
            <a:ext cx="8520120" cy="333864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marL="457200" indent="-355320" algn="just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zadaci: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8840" algn="just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i="1" lang="en-US" sz="1900" spc="-1" strike="noStrike" u="sng">
                <a:solidFill>
                  <a:srgbClr val="434343"/>
                </a:solidFill>
                <a:uFillTx/>
                <a:latin typeface="Roboto"/>
                <a:ea typeface="Roboto"/>
              </a:rPr>
              <a:t>član 3 - plaćanje Bitcoin kriptovalutom</a:t>
            </a:r>
            <a:r>
              <a:rPr b="0" lang="en-US" sz="1900" spc="-1" strike="noStrike">
                <a:solidFill>
                  <a:srgbClr val="434343"/>
                </a:solidFill>
                <a:latin typeface="Roboto"/>
                <a:ea typeface="Roboto"/>
              </a:rPr>
              <a:t>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42720" algn="just">
              <a:lnSpc>
                <a:spcPct val="115000"/>
              </a:lnSpc>
              <a:buClr>
                <a:srgbClr val="434343"/>
              </a:buClr>
              <a:buFont typeface="Roboto"/>
              <a:buChar char="■"/>
            </a:pPr>
            <a:r>
              <a:rPr b="0" lang="en-US" sz="1800" spc="-1" strike="noStrike">
                <a:solidFill>
                  <a:srgbClr val="434343"/>
                </a:solidFill>
                <a:latin typeface="Roboto"/>
                <a:ea typeface="Roboto"/>
              </a:rPr>
              <a:t>omogućiti da se nakon izvršenog plaćanja korisnik preusmeri u aplikaciju naučne centrale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42720" algn="just">
              <a:lnSpc>
                <a:spcPct val="115000"/>
              </a:lnSpc>
              <a:buClr>
                <a:srgbClr val="434343"/>
              </a:buClr>
              <a:buFont typeface="Roboto"/>
              <a:buChar char="■"/>
            </a:pPr>
            <a:r>
              <a:rPr b="0" lang="en-US" sz="1800" spc="-1" strike="noStrike">
                <a:solidFill>
                  <a:srgbClr val="434343"/>
                </a:solidFill>
                <a:latin typeface="Roboto"/>
                <a:ea typeface="Roboto"/>
              </a:rPr>
              <a:t>detaljno testirati rad implementiranog načina plaćanja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iming>
    <p:tnLst>
      <p:par>
        <p:cTn id="17" dur="indefinite" restart="never" nodeType="tmRoot">
          <p:childTnLst>
            <p:seq>
              <p:cTn id="1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4c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1"/>
          <p:cNvSpPr txBox="1"/>
          <p:nvPr/>
        </p:nvSpPr>
        <p:spPr>
          <a:xfrm>
            <a:off x="311760" y="410040"/>
            <a:ext cx="8520120" cy="60732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algn="just">
              <a:lnSpc>
                <a:spcPct val="100000"/>
              </a:lnSpc>
            </a:pPr>
            <a:r>
              <a:rPr b="1" i="1" lang="en-US" sz="3000" spc="-1" strike="noStrike">
                <a:solidFill>
                  <a:srgbClr val="2a3990"/>
                </a:solidFill>
                <a:latin typeface="Roboto"/>
                <a:ea typeface="Roboto"/>
              </a:rPr>
              <a:t>… </a:t>
            </a:r>
            <a:r>
              <a:rPr b="1" i="1" lang="en-US" sz="3000" spc="-1" strike="noStrike">
                <a:solidFill>
                  <a:srgbClr val="2a3990"/>
                </a:solidFill>
                <a:latin typeface="Roboto"/>
                <a:ea typeface="Roboto"/>
              </a:rPr>
              <a:t>treći sprint ...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Shape 2"/>
          <p:cNvSpPr txBox="1"/>
          <p:nvPr/>
        </p:nvSpPr>
        <p:spPr>
          <a:xfrm>
            <a:off x="311760" y="1229760"/>
            <a:ext cx="8520120" cy="333864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marL="457200" indent="-355320" algn="just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zadaci: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8840" algn="just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i="1" lang="en-US" sz="1900" spc="-1" strike="noStrike" u="sng">
                <a:solidFill>
                  <a:srgbClr val="434343"/>
                </a:solidFill>
                <a:uFillTx/>
                <a:latin typeface="Roboto"/>
                <a:ea typeface="Roboto"/>
              </a:rPr>
              <a:t>bezbednost (</a:t>
            </a:r>
            <a:r>
              <a:rPr b="0" i="1" lang="en-US" sz="1800" spc="-1" strike="noStrike" u="sng">
                <a:solidFill>
                  <a:srgbClr val="434343"/>
                </a:solidFill>
                <a:uFillTx/>
                <a:latin typeface="Roboto"/>
                <a:ea typeface="Roboto"/>
              </a:rPr>
              <a:t>naučna centrala, koncentrator plaćanja, banka, PCC)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42720" algn="just">
              <a:lnSpc>
                <a:spcPct val="115000"/>
              </a:lnSpc>
              <a:buClr>
                <a:srgbClr val="434343"/>
              </a:buClr>
              <a:buFont typeface="Roboto"/>
              <a:buChar char="■"/>
            </a:pPr>
            <a:r>
              <a:rPr b="0" lang="en-US" sz="1800" spc="-1" strike="noStrike">
                <a:solidFill>
                  <a:srgbClr val="434343"/>
                </a:solidFill>
                <a:latin typeface="Roboto"/>
                <a:ea typeface="Roboto"/>
              </a:rPr>
              <a:t>ubaciti https (+ generisati potrebne sertifikate)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42720" algn="just">
              <a:lnSpc>
                <a:spcPct val="115000"/>
              </a:lnSpc>
              <a:buClr>
                <a:srgbClr val="434343"/>
              </a:buClr>
              <a:buFont typeface="Roboto"/>
              <a:buChar char="■"/>
            </a:pPr>
            <a:r>
              <a:rPr b="0" lang="en-US" sz="1800" spc="-1" strike="noStrike">
                <a:solidFill>
                  <a:srgbClr val="434343"/>
                </a:solidFill>
                <a:latin typeface="Roboto"/>
                <a:ea typeface="Roboto"/>
              </a:rPr>
              <a:t>logovati aktivnosti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42720" algn="just">
              <a:lnSpc>
                <a:spcPct val="115000"/>
              </a:lnSpc>
              <a:buClr>
                <a:srgbClr val="434343"/>
              </a:buClr>
              <a:buFont typeface="Roboto"/>
              <a:buChar char="■"/>
            </a:pPr>
            <a:r>
              <a:rPr b="0" lang="en-US" sz="1800" spc="-1" strike="noStrike">
                <a:solidFill>
                  <a:srgbClr val="434343"/>
                </a:solidFill>
                <a:latin typeface="Roboto"/>
                <a:ea typeface="Roboto"/>
              </a:rPr>
              <a:t>kriptovanje e-mail adrese korisnika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42720" algn="just">
              <a:lnSpc>
                <a:spcPct val="115000"/>
              </a:lnSpc>
              <a:buClr>
                <a:srgbClr val="434343"/>
              </a:buClr>
              <a:buFont typeface="Roboto"/>
              <a:buChar char="■"/>
            </a:pPr>
            <a:r>
              <a:rPr b="0" lang="en-US" sz="1800" spc="-1" strike="noStrike">
                <a:solidFill>
                  <a:srgbClr val="434343"/>
                </a:solidFill>
                <a:latin typeface="Roboto"/>
                <a:ea typeface="Roboto"/>
              </a:rPr>
              <a:t>heširanje lozinke korisnika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42720" algn="just">
              <a:lnSpc>
                <a:spcPct val="115000"/>
              </a:lnSpc>
              <a:buClr>
                <a:srgbClr val="434343"/>
              </a:buClr>
              <a:buFont typeface="Roboto"/>
              <a:buChar char="■"/>
            </a:pPr>
            <a:r>
              <a:rPr b="0" lang="en-US" sz="1800" spc="-1" strike="noStrike">
                <a:solidFill>
                  <a:srgbClr val="434343"/>
                </a:solidFill>
                <a:latin typeface="Roboto"/>
                <a:ea typeface="Roboto"/>
              </a:rPr>
              <a:t>proveravati da li se uneta lozinka nalazi na listi najčešće korišćenih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42720" algn="just">
              <a:lnSpc>
                <a:spcPct val="115000"/>
              </a:lnSpc>
              <a:buClr>
                <a:srgbClr val="434343"/>
              </a:buClr>
              <a:buFont typeface="Roboto"/>
              <a:buChar char="■"/>
            </a:pPr>
            <a:r>
              <a:rPr b="0" lang="en-US" sz="1800" spc="-1" strike="noStrike">
                <a:solidFill>
                  <a:srgbClr val="434343"/>
                </a:solidFill>
                <a:latin typeface="Roboto"/>
                <a:ea typeface="Roboto"/>
              </a:rPr>
              <a:t>Spring Security -&gt; JSON web token, zaštita od CSRF napada, @PreAuthorize, @Transactional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4c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311760" y="410040"/>
            <a:ext cx="8520120" cy="60732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algn="just">
              <a:lnSpc>
                <a:spcPct val="100000"/>
              </a:lnSpc>
            </a:pPr>
            <a:r>
              <a:rPr b="1" i="1" lang="en-US" sz="3000" spc="-1" strike="noStrike">
                <a:solidFill>
                  <a:srgbClr val="2a3990"/>
                </a:solidFill>
                <a:latin typeface="Roboto"/>
                <a:ea typeface="Roboto"/>
              </a:rPr>
              <a:t>… </a:t>
            </a:r>
            <a:r>
              <a:rPr b="1" i="1" lang="en-US" sz="3000" spc="-1" strike="noStrike">
                <a:solidFill>
                  <a:srgbClr val="2a3990"/>
                </a:solidFill>
                <a:latin typeface="Roboto"/>
                <a:ea typeface="Roboto"/>
              </a:rPr>
              <a:t>treći sprint ...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Shape 2"/>
          <p:cNvSpPr txBox="1"/>
          <p:nvPr/>
        </p:nvSpPr>
        <p:spPr>
          <a:xfrm>
            <a:off x="311760" y="1229760"/>
            <a:ext cx="8520120" cy="333864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marL="457200" indent="-355320" algn="just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zadaci: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8840" algn="just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i="1" lang="en-US" sz="1900" spc="-1" strike="noStrike" u="sng">
                <a:solidFill>
                  <a:srgbClr val="434343"/>
                </a:solidFill>
                <a:uFillTx/>
                <a:latin typeface="Roboto"/>
                <a:ea typeface="Roboto"/>
              </a:rPr>
              <a:t>svi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42720" algn="just">
              <a:lnSpc>
                <a:spcPct val="115000"/>
              </a:lnSpc>
              <a:buClr>
                <a:srgbClr val="434343"/>
              </a:buClr>
              <a:buFont typeface="Roboto"/>
              <a:buChar char="■"/>
            </a:pPr>
            <a:r>
              <a:rPr b="0" lang="en-US" sz="1800" spc="-1" strike="noStrike">
                <a:solidFill>
                  <a:srgbClr val="434343"/>
                </a:solidFill>
                <a:latin typeface="Roboto"/>
                <a:ea typeface="Roboto"/>
              </a:rPr>
              <a:t>započeti proces integracije koncentratora plaćanja i naučne centrale - svaki član tima treba da pokuša da integriše svoju naučnu centralu kao jednog od klijenata koncentratora plaćanja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iming>
    <p:tnLst>
      <p:par>
        <p:cTn id="21" dur="indefinite" restart="never" nodeType="tmRoot">
          <p:childTnLst>
            <p:seq>
              <p:cTn id="2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4c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1"/>
          <p:cNvSpPr txBox="1"/>
          <p:nvPr/>
        </p:nvSpPr>
        <p:spPr>
          <a:xfrm>
            <a:off x="311760" y="410040"/>
            <a:ext cx="8520120" cy="60732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algn="just">
              <a:lnSpc>
                <a:spcPct val="100000"/>
              </a:lnSpc>
            </a:pPr>
            <a:r>
              <a:rPr b="1" i="1" lang="en-US" sz="3000" spc="-1" strike="noStrike">
                <a:solidFill>
                  <a:srgbClr val="2a3990"/>
                </a:solidFill>
                <a:latin typeface="Roboto"/>
                <a:ea typeface="Roboto"/>
              </a:rPr>
              <a:t>bezbednost: https i generisanje sertifikata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Shape 2"/>
          <p:cNvSpPr txBox="1"/>
          <p:nvPr/>
        </p:nvSpPr>
        <p:spPr>
          <a:xfrm>
            <a:off x="311760" y="1229760"/>
            <a:ext cx="8520120" cy="333864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Google Shape;153;p24" descr=""/>
          <p:cNvPicPr/>
          <p:nvPr/>
        </p:nvPicPr>
        <p:blipFill>
          <a:blip r:embed="rId1"/>
          <a:stretch/>
        </p:blipFill>
        <p:spPr>
          <a:xfrm>
            <a:off x="739800" y="1229760"/>
            <a:ext cx="3159360" cy="3643920"/>
          </a:xfrm>
          <a:prstGeom prst="rect">
            <a:avLst/>
          </a:prstGeom>
          <a:ln>
            <a:noFill/>
          </a:ln>
        </p:spPr>
      </p:pic>
      <p:pic>
        <p:nvPicPr>
          <p:cNvPr id="113" name="Google Shape;154;p24" descr=""/>
          <p:cNvPicPr/>
          <p:nvPr/>
        </p:nvPicPr>
        <p:blipFill>
          <a:blip r:embed="rId2"/>
          <a:stretch/>
        </p:blipFill>
        <p:spPr>
          <a:xfrm>
            <a:off x="4355280" y="1924200"/>
            <a:ext cx="4017240" cy="18338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3" dur="indefinite" restart="never" nodeType="tmRoot">
          <p:childTnLst>
            <p:seq>
              <p:cTn id="2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4c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Shape 1"/>
          <p:cNvSpPr txBox="1"/>
          <p:nvPr/>
        </p:nvSpPr>
        <p:spPr>
          <a:xfrm>
            <a:off x="311760" y="410040"/>
            <a:ext cx="8520120" cy="60732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Shape 2"/>
          <p:cNvSpPr txBox="1"/>
          <p:nvPr/>
        </p:nvSpPr>
        <p:spPr>
          <a:xfrm>
            <a:off x="311760" y="1229760"/>
            <a:ext cx="8520120" cy="333864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Google Shape;161;p25" descr=""/>
          <p:cNvPicPr/>
          <p:nvPr/>
        </p:nvPicPr>
        <p:blipFill>
          <a:blip r:embed="rId1"/>
          <a:stretch/>
        </p:blipFill>
        <p:spPr>
          <a:xfrm>
            <a:off x="1217880" y="0"/>
            <a:ext cx="6707880" cy="51433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5" dur="indefinite" restart="never" nodeType="tmRoot">
          <p:childTnLst>
            <p:seq>
              <p:cTn id="2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4c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Shape 1"/>
          <p:cNvSpPr txBox="1"/>
          <p:nvPr/>
        </p:nvSpPr>
        <p:spPr>
          <a:xfrm>
            <a:off x="311760" y="410040"/>
            <a:ext cx="8520120" cy="60732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algn="just">
              <a:lnSpc>
                <a:spcPct val="100000"/>
              </a:lnSpc>
            </a:pPr>
            <a:r>
              <a:rPr b="1" i="1" lang="en-US" sz="3000" spc="-1" strike="noStrike">
                <a:solidFill>
                  <a:srgbClr val="2a3990"/>
                </a:solidFill>
                <a:latin typeface="Roboto"/>
                <a:ea typeface="Roboto"/>
              </a:rPr>
              <a:t>bezbednost: </a:t>
            </a:r>
            <a:br/>
            <a:r>
              <a:rPr b="1" i="1" lang="en-US" sz="3000" spc="-1" strike="noStrike">
                <a:solidFill>
                  <a:srgbClr val="2a3990"/>
                </a:solidFill>
                <a:latin typeface="Roboto"/>
                <a:ea typeface="Roboto"/>
              </a:rPr>
              <a:t>logovanje aktivnosti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Shape 2"/>
          <p:cNvSpPr txBox="1"/>
          <p:nvPr/>
        </p:nvSpPr>
        <p:spPr>
          <a:xfrm>
            <a:off x="311760" y="1229760"/>
            <a:ext cx="8520120" cy="333864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Google Shape;168;p26" descr=""/>
          <p:cNvPicPr/>
          <p:nvPr/>
        </p:nvPicPr>
        <p:blipFill>
          <a:blip r:embed="rId1"/>
          <a:stretch/>
        </p:blipFill>
        <p:spPr>
          <a:xfrm>
            <a:off x="0" y="1757160"/>
            <a:ext cx="9143640" cy="3119760"/>
          </a:xfrm>
          <a:prstGeom prst="rect">
            <a:avLst/>
          </a:prstGeom>
          <a:ln>
            <a:noFill/>
          </a:ln>
        </p:spPr>
      </p:pic>
      <p:pic>
        <p:nvPicPr>
          <p:cNvPr id="120" name="Google Shape;169;p26" descr=""/>
          <p:cNvPicPr/>
          <p:nvPr/>
        </p:nvPicPr>
        <p:blipFill>
          <a:blip r:embed="rId2"/>
          <a:stretch/>
        </p:blipFill>
        <p:spPr>
          <a:xfrm>
            <a:off x="4910040" y="410040"/>
            <a:ext cx="3921840" cy="11800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7" dur="indefinite" restart="never" nodeType="tmRoot">
          <p:childTnLst>
            <p:seq>
              <p:cTn id="2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4c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Shape 1"/>
          <p:cNvSpPr txBox="1"/>
          <p:nvPr/>
        </p:nvSpPr>
        <p:spPr>
          <a:xfrm>
            <a:off x="311760" y="410040"/>
            <a:ext cx="8520120" cy="60732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algn="just">
              <a:lnSpc>
                <a:spcPct val="100000"/>
              </a:lnSpc>
            </a:pPr>
            <a:r>
              <a:rPr b="1" i="1" lang="en-US" sz="3000" spc="-1" strike="noStrike">
                <a:solidFill>
                  <a:srgbClr val="2a3990"/>
                </a:solidFill>
                <a:latin typeface="Roboto"/>
                <a:ea typeface="Roboto"/>
              </a:rPr>
              <a:t>bezbednost: kriptovanje e-mail adrese korisnika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Shape 2"/>
          <p:cNvSpPr txBox="1"/>
          <p:nvPr/>
        </p:nvSpPr>
        <p:spPr>
          <a:xfrm>
            <a:off x="311760" y="1229760"/>
            <a:ext cx="8520120" cy="333864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marL="457200" indent="-342720" algn="just">
              <a:lnSpc>
                <a:spcPct val="100000"/>
              </a:lnSpc>
              <a:buClr>
                <a:srgbClr val="434343"/>
              </a:buClr>
              <a:buFont typeface="Roboto"/>
              <a:buChar char="●"/>
            </a:pPr>
            <a:r>
              <a:rPr b="0" lang="en-US" sz="1800" spc="-1" strike="noStrike">
                <a:solidFill>
                  <a:srgbClr val="434343"/>
                </a:solidFill>
                <a:latin typeface="Roboto"/>
                <a:ea typeface="Roboto"/>
              </a:rPr>
              <a:t>u postupku šifrovanja/dešifrovanja koristi se AES algoritam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2720" algn="just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lang="en-US" sz="1800" spc="-1" strike="noStrike">
                <a:solidFill>
                  <a:srgbClr val="434343"/>
                </a:solidFill>
                <a:latin typeface="Roboto"/>
                <a:ea typeface="Roboto"/>
              </a:rPr>
              <a:t>generisati ključ za šifrovanje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2720" algn="just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lang="en-US" sz="1800" spc="-1" strike="noStrike">
                <a:solidFill>
                  <a:srgbClr val="434343"/>
                </a:solidFill>
                <a:latin typeface="Roboto"/>
                <a:ea typeface="Roboto"/>
              </a:rPr>
              <a:t>pre čuvanja e-mail adrese korisnika u bazi, šifrovati je pomoću prethodno generisanog ključa (poziva se funkcija encrypt):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115000"/>
              </a:lnSpc>
              <a:spcBef>
                <a:spcPts val="1599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2720" algn="just">
              <a:lnSpc>
                <a:spcPct val="115000"/>
              </a:lnSpc>
              <a:spcBef>
                <a:spcPts val="1599"/>
              </a:spcBef>
              <a:buClr>
                <a:srgbClr val="434343"/>
              </a:buClr>
              <a:buFont typeface="Roboto"/>
              <a:buChar char="○"/>
            </a:pPr>
            <a:r>
              <a:rPr b="0" lang="en-US" sz="1800" spc="-1" strike="noStrike">
                <a:solidFill>
                  <a:srgbClr val="434343"/>
                </a:solidFill>
                <a:latin typeface="Roboto"/>
                <a:ea typeface="Roboto"/>
              </a:rPr>
              <a:t>svaki put kad treba pristupiti e-mail adresi korisnika, potrebno je dešifrovati je (poziva se funkcija decrypt):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914400" algn="just">
              <a:lnSpc>
                <a:spcPct val="115000"/>
              </a:lnSpc>
              <a:spcBef>
                <a:spcPts val="1599"/>
              </a:spcBef>
              <a:spcAft>
                <a:spcPts val="1599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Google Shape;176;p27" descr=""/>
          <p:cNvPicPr/>
          <p:nvPr/>
        </p:nvPicPr>
        <p:blipFill>
          <a:blip r:embed="rId1"/>
          <a:stretch/>
        </p:blipFill>
        <p:spPr>
          <a:xfrm>
            <a:off x="909000" y="2685600"/>
            <a:ext cx="8034120" cy="550080"/>
          </a:xfrm>
          <a:prstGeom prst="rect">
            <a:avLst/>
          </a:prstGeom>
          <a:ln>
            <a:noFill/>
          </a:ln>
        </p:spPr>
      </p:pic>
      <p:pic>
        <p:nvPicPr>
          <p:cNvPr id="124" name="Google Shape;177;p27" descr=""/>
          <p:cNvPicPr/>
          <p:nvPr/>
        </p:nvPicPr>
        <p:blipFill>
          <a:blip r:embed="rId2"/>
          <a:stretch/>
        </p:blipFill>
        <p:spPr>
          <a:xfrm>
            <a:off x="909000" y="3990600"/>
            <a:ext cx="8034120" cy="5029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9" dur="indefinite" restart="never" nodeType="tmRoot">
          <p:childTnLst>
            <p:seq>
              <p:cTn id="3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4c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Shape 1"/>
          <p:cNvSpPr txBox="1"/>
          <p:nvPr/>
        </p:nvSpPr>
        <p:spPr>
          <a:xfrm>
            <a:off x="311760" y="410040"/>
            <a:ext cx="8520120" cy="60732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Shape 2"/>
          <p:cNvSpPr txBox="1"/>
          <p:nvPr/>
        </p:nvSpPr>
        <p:spPr>
          <a:xfrm>
            <a:off x="311760" y="1229760"/>
            <a:ext cx="8520120" cy="333864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marL="457200" indent="-342720" algn="just">
              <a:lnSpc>
                <a:spcPct val="100000"/>
              </a:lnSpc>
              <a:buClr>
                <a:srgbClr val="434343"/>
              </a:buClr>
              <a:buFont typeface="Roboto"/>
              <a:buChar char="●"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914400" algn="just">
              <a:lnSpc>
                <a:spcPct val="115000"/>
              </a:lnSpc>
              <a:spcBef>
                <a:spcPts val="1599"/>
              </a:spcBef>
              <a:spcAft>
                <a:spcPts val="1599"/>
              </a:spcAf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2331720" y="640080"/>
            <a:ext cx="4480560" cy="37490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1" dur="indefinite" restart="never" nodeType="tmRoot">
          <p:childTnLst>
            <p:seq>
              <p:cTn id="3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4c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Shape 1"/>
          <p:cNvSpPr txBox="1"/>
          <p:nvPr/>
        </p:nvSpPr>
        <p:spPr>
          <a:xfrm>
            <a:off x="311760" y="410040"/>
            <a:ext cx="8520120" cy="60732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Shape 2"/>
          <p:cNvSpPr txBox="1"/>
          <p:nvPr/>
        </p:nvSpPr>
        <p:spPr>
          <a:xfrm>
            <a:off x="311760" y="1229760"/>
            <a:ext cx="8520120" cy="333864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marL="457200" indent="-342720" algn="just">
              <a:lnSpc>
                <a:spcPct val="100000"/>
              </a:lnSpc>
              <a:buClr>
                <a:srgbClr val="434343"/>
              </a:buClr>
              <a:buFont typeface="Roboto"/>
              <a:buChar char="●"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914400" algn="just">
              <a:lnSpc>
                <a:spcPct val="115000"/>
              </a:lnSpc>
              <a:spcBef>
                <a:spcPts val="1599"/>
              </a:spcBef>
              <a:spcAft>
                <a:spcPts val="1599"/>
              </a:spcAf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0" name="" descr=""/>
          <p:cNvPicPr/>
          <p:nvPr/>
        </p:nvPicPr>
        <p:blipFill>
          <a:blip r:embed="rId1"/>
          <a:stretch/>
        </p:blipFill>
        <p:spPr>
          <a:xfrm>
            <a:off x="1047240" y="333000"/>
            <a:ext cx="7125120" cy="45151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3" dur="indefinite" restart="never" nodeType="tmRoot">
          <p:childTnLst>
            <p:seq>
              <p:cTn id="3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4c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Shape 1"/>
          <p:cNvSpPr txBox="1"/>
          <p:nvPr/>
        </p:nvSpPr>
        <p:spPr>
          <a:xfrm>
            <a:off x="311760" y="410040"/>
            <a:ext cx="8520120" cy="60732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algn="just">
              <a:lnSpc>
                <a:spcPct val="100000"/>
              </a:lnSpc>
            </a:pPr>
            <a:r>
              <a:rPr b="1" i="1" lang="en-US" sz="3000" spc="-1" strike="noStrike">
                <a:solidFill>
                  <a:srgbClr val="2a3990"/>
                </a:solidFill>
                <a:latin typeface="Roboto"/>
                <a:ea typeface="Roboto"/>
              </a:rPr>
              <a:t>bezbednost: heširanje lozinke korisnika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Shape 2"/>
          <p:cNvSpPr txBox="1"/>
          <p:nvPr/>
        </p:nvSpPr>
        <p:spPr>
          <a:xfrm>
            <a:off x="311760" y="1229760"/>
            <a:ext cx="8520120" cy="333864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marL="457200" indent="-348840" algn="just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-US" sz="1900" spc="-1" strike="noStrike">
                <a:solidFill>
                  <a:srgbClr val="434343"/>
                </a:solidFill>
                <a:latin typeface="Roboto"/>
                <a:ea typeface="Roboto"/>
              </a:rPr>
              <a:t>za svakog pojedinačnog korisnika čuva se tajni ključ (generiše se na slučajan način, ima ulogu salt-a)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457200" indent="-348840" algn="just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-US" sz="1900" spc="-1" strike="noStrike">
                <a:solidFill>
                  <a:srgbClr val="434343"/>
                </a:solidFill>
                <a:latin typeface="Roboto"/>
                <a:ea typeface="Roboto"/>
              </a:rPr>
              <a:t>na lozinku korisnika prvo se dodaje tajni ključ, pa se onda vrši heširanje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457200" indent="-348840" algn="just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-US" sz="1900" spc="-1" strike="noStrike">
                <a:solidFill>
                  <a:srgbClr val="434343"/>
                </a:solidFill>
                <a:latin typeface="Roboto"/>
                <a:ea typeface="Roboto"/>
              </a:rPr>
              <a:t>u bazi se čuva dobijeni heš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457200" indent="-348840" algn="just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-US" sz="1900" spc="-1" strike="noStrike">
                <a:solidFill>
                  <a:srgbClr val="434343"/>
                </a:solidFill>
                <a:latin typeface="Roboto"/>
                <a:ea typeface="Roboto"/>
              </a:rPr>
              <a:t>kada korisnik pokuša da se prijavi na sistem, prvo se hešira lozinka koju je uneo u formi za prijavu pa se dobijeni heš poredi sa onim iz baze - ukoliko su isti, korisnik može da se prijavi (pod uslovom da je uneta i odgovarajuća e-mail adresa). U slučaju da heševi nisu isti, korisniku je onemogućena prijava na sistem.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iming>
    <p:tnLst>
      <p:par>
        <p:cTn id="35" dur="indefinite" restart="never" nodeType="tmRoot">
          <p:childTnLst>
            <p:seq>
              <p:cTn id="3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4c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Shape 1"/>
          <p:cNvSpPr txBox="1"/>
          <p:nvPr/>
        </p:nvSpPr>
        <p:spPr>
          <a:xfrm>
            <a:off x="311760" y="410040"/>
            <a:ext cx="8520120" cy="60732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algn="just">
              <a:lnSpc>
                <a:spcPct val="100000"/>
              </a:lnSpc>
            </a:pPr>
            <a:r>
              <a:rPr b="1" i="1" lang="en-US" sz="3000" spc="-1" strike="noStrike">
                <a:solidFill>
                  <a:srgbClr val="2a3990"/>
                </a:solidFill>
                <a:latin typeface="Roboto"/>
                <a:ea typeface="Roboto"/>
              </a:rPr>
              <a:t>bezbednost: provera često korišćenih lozinki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Shape 2"/>
          <p:cNvSpPr txBox="1"/>
          <p:nvPr/>
        </p:nvSpPr>
        <p:spPr>
          <a:xfrm>
            <a:off x="311760" y="1229760"/>
            <a:ext cx="8520120" cy="333864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marL="457200" indent="-348840" algn="just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-US" sz="1900" spc="-1" strike="noStrike">
                <a:solidFill>
                  <a:srgbClr val="434343"/>
                </a:solidFill>
                <a:latin typeface="Roboto"/>
                <a:ea typeface="Roboto"/>
              </a:rPr>
              <a:t>sistem sprečava registraciju korisnika sve dok lozinka koju unese u formi za registraciju ne zadovolji uslov da se ne sme nalaziti na listi najčešće korišćenih lozinki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457200" indent="-348840" algn="just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-US" sz="1900" spc="-1" strike="noStrike">
                <a:solidFill>
                  <a:srgbClr val="434343"/>
                </a:solidFill>
                <a:latin typeface="Roboto"/>
                <a:ea typeface="Roboto"/>
              </a:rPr>
              <a:t>pored toga, vrše se i provera dužine i provera formata unete lozinke - ukoliko postavljeni uslovi nisu ispunjeni, korisnik neće moći da se registruje na sistem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457200" indent="-348840" algn="just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-US" sz="1900" spc="-1" strike="noStrike">
                <a:solidFill>
                  <a:srgbClr val="434343"/>
                </a:solidFill>
                <a:latin typeface="Roboto"/>
                <a:ea typeface="Roboto"/>
              </a:rPr>
              <a:t>provera se vrši i na strani servera i na strani klijenta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iming>
    <p:tnLst>
      <p:par>
        <p:cTn id="37" dur="indefinite" restart="never" nodeType="tmRoot">
          <p:childTnLst>
            <p:seq>
              <p:cTn id="3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4c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1"/>
          <p:cNvSpPr txBox="1"/>
          <p:nvPr/>
        </p:nvSpPr>
        <p:spPr>
          <a:xfrm>
            <a:off x="311760" y="410040"/>
            <a:ext cx="8520120" cy="60732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algn="just">
              <a:lnSpc>
                <a:spcPct val="100000"/>
              </a:lnSpc>
            </a:pPr>
            <a:r>
              <a:rPr b="1" i="1" lang="en-US" sz="3000" spc="-1" strike="noStrike">
                <a:solidFill>
                  <a:srgbClr val="2a3990"/>
                </a:solidFill>
                <a:latin typeface="Roboto"/>
                <a:ea typeface="Roboto"/>
              </a:rPr>
              <a:t>bezbednost: Spring Security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Shape 2"/>
          <p:cNvSpPr txBox="1"/>
          <p:nvPr/>
        </p:nvSpPr>
        <p:spPr>
          <a:xfrm>
            <a:off x="311760" y="1229760"/>
            <a:ext cx="8520120" cy="333864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marL="457200" indent="-342720" algn="just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-US" sz="1800" spc="-1" strike="noStrike">
                <a:solidFill>
                  <a:srgbClr val="434343"/>
                </a:solidFill>
                <a:latin typeface="Roboto"/>
                <a:ea typeface="Roboto"/>
              </a:rPr>
              <a:t>u okviru aplikacije naučna centrala implementiran je mehanizam JWT-a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2720" algn="just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-US" sz="1800" spc="-1" strike="noStrike">
                <a:solidFill>
                  <a:srgbClr val="434343"/>
                </a:solidFill>
                <a:latin typeface="Roboto"/>
                <a:ea typeface="Roboto"/>
              </a:rPr>
              <a:t>na serverskoj strani CSRF napad je sprečen: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2720" algn="just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-US" sz="1800" spc="-1" strike="noStrike">
                <a:solidFill>
                  <a:srgbClr val="434343"/>
                </a:solidFill>
                <a:latin typeface="Roboto"/>
                <a:ea typeface="Roboto"/>
              </a:rPr>
              <a:t>za servisne slojeve aplikacije korišćena je anotacija @Transactional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2720" algn="just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-US" sz="1800" spc="-1" strike="noStrike">
                <a:solidFill>
                  <a:srgbClr val="434343"/>
                </a:solidFill>
                <a:latin typeface="Roboto"/>
                <a:ea typeface="Roboto"/>
              </a:rPr>
              <a:t>pomoću anotacije @PreAuthorize pre svake metode provereno je ko sme da je izvrši: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7" name="Google Shape;196;p30" descr=""/>
          <p:cNvPicPr/>
          <p:nvPr/>
        </p:nvPicPr>
        <p:blipFill>
          <a:blip r:embed="rId1"/>
          <a:stretch/>
        </p:blipFill>
        <p:spPr>
          <a:xfrm>
            <a:off x="444600" y="2332800"/>
            <a:ext cx="8387640" cy="322200"/>
          </a:xfrm>
          <a:prstGeom prst="rect">
            <a:avLst/>
          </a:prstGeom>
          <a:ln>
            <a:noFill/>
          </a:ln>
        </p:spPr>
      </p:pic>
      <p:pic>
        <p:nvPicPr>
          <p:cNvPr id="138" name="Google Shape;197;p30" descr=""/>
          <p:cNvPicPr/>
          <p:nvPr/>
        </p:nvPicPr>
        <p:blipFill>
          <a:blip r:embed="rId2"/>
          <a:stretch/>
        </p:blipFill>
        <p:spPr>
          <a:xfrm>
            <a:off x="444600" y="3970440"/>
            <a:ext cx="8387640" cy="8838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9" dur="indefinite" restart="never" nodeType="tmRoot">
          <p:childTnLst>
            <p:seq>
              <p:cTn id="4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4c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Shape 1"/>
          <p:cNvSpPr txBox="1"/>
          <p:nvPr/>
        </p:nvSpPr>
        <p:spPr>
          <a:xfrm>
            <a:off x="311760" y="410040"/>
            <a:ext cx="8520120" cy="60732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algn="just">
              <a:lnSpc>
                <a:spcPct val="100000"/>
              </a:lnSpc>
            </a:pPr>
            <a:r>
              <a:rPr b="1" i="1" lang="en-US" sz="3000" spc="-1" strike="noStrike">
                <a:solidFill>
                  <a:srgbClr val="2a3990"/>
                </a:solidFill>
                <a:latin typeface="Roboto"/>
                <a:ea typeface="Roboto"/>
              </a:rPr>
              <a:t>… </a:t>
            </a:r>
            <a:r>
              <a:rPr b="1" i="1" lang="en-US" sz="3000" spc="-1" strike="noStrike">
                <a:solidFill>
                  <a:srgbClr val="2a3990"/>
                </a:solidFill>
                <a:latin typeface="Roboto"/>
                <a:ea typeface="Roboto"/>
              </a:rPr>
              <a:t>demo ...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Shape 2"/>
          <p:cNvSpPr txBox="1"/>
          <p:nvPr/>
        </p:nvSpPr>
        <p:spPr>
          <a:xfrm>
            <a:off x="311760" y="1229760"/>
            <a:ext cx="8520120" cy="333864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marL="457200" indent="-348840" algn="just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video koji demonstrira kako rade implementirane funkcionalnosti (sva tri načina plaćanja)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iming>
    <p:tnLst>
      <p:par>
        <p:cTn id="41" dur="indefinite" restart="never" nodeType="tmRoot">
          <p:childTnLst>
            <p:seq>
              <p:cTn id="4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4c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Shape 1"/>
          <p:cNvSpPr txBox="1"/>
          <p:nvPr/>
        </p:nvSpPr>
        <p:spPr>
          <a:xfrm>
            <a:off x="311760" y="410040"/>
            <a:ext cx="8520120" cy="60732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algn="just">
              <a:lnSpc>
                <a:spcPct val="100000"/>
              </a:lnSpc>
            </a:pPr>
            <a:r>
              <a:rPr b="1" i="1" lang="en-US" sz="3000" spc="-1" strike="noStrike">
                <a:solidFill>
                  <a:srgbClr val="2a3990"/>
                </a:solidFill>
                <a:latin typeface="Roboto"/>
                <a:ea typeface="Roboto"/>
              </a:rPr>
              <a:t>Četvrti sprint ...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Shape 2"/>
          <p:cNvSpPr txBox="1"/>
          <p:nvPr/>
        </p:nvSpPr>
        <p:spPr>
          <a:xfrm>
            <a:off x="311760" y="1229760"/>
            <a:ext cx="8520120" cy="333864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p>
            <a:pPr marL="457200" indent="-355320" algn="just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-US" sz="2000" spc="-1" strike="noStrike">
                <a:solidFill>
                  <a:srgbClr val="434343"/>
                </a:solidFill>
                <a:latin typeface="Roboto"/>
                <a:ea typeface="Roboto"/>
              </a:rPr>
              <a:t>planovi za sledeći sprint: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8840" algn="just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lang="en-US" sz="1900" spc="-1" strike="noStrike">
                <a:solidFill>
                  <a:srgbClr val="434343"/>
                </a:solidFill>
                <a:latin typeface="Roboto"/>
                <a:ea typeface="Roboto"/>
              </a:rPr>
              <a:t>realizovati zadatke koje u ovom sprintu nismo uspeli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8840" algn="just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lang="en-US" sz="1900" spc="-1" strike="noStrike">
                <a:solidFill>
                  <a:srgbClr val="434343"/>
                </a:solidFill>
                <a:latin typeface="Roboto"/>
                <a:ea typeface="Roboto"/>
              </a:rPr>
              <a:t>popraviti u međuvremenu uočene bug-ove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8840" algn="just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lang="en-US" sz="1900" spc="-1" strike="noStrike">
                <a:solidFill>
                  <a:srgbClr val="434343"/>
                </a:solidFill>
                <a:latin typeface="Roboto"/>
                <a:ea typeface="Roboto"/>
              </a:rPr>
              <a:t>sve tri naučne centrale integrisati kao klijente koncentratora plaćanja - omogućiti multitenancy režim rada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iming>
    <p:tnLst>
      <p:par>
        <p:cTn id="43" dur="indefinite" restart="never" nodeType="tmRoot">
          <p:childTnLst>
            <p:seq>
              <p:cTn id="4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LibreOffice/5.4.3.2$Windows_X86_64 LibreOffice_project/92a7159f7e4af62137622921e809f8546db437e5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2018-12-27T22:35:16Z</dcterms:modified>
  <cp:revision>5</cp:revision>
  <dc:subject/>
  <dc:title/>
</cp:coreProperties>
</file>